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13"/>
  </p:notesMasterIdLst>
  <p:sldIdLst>
    <p:sldId id="359" r:id="rId3"/>
    <p:sldId id="397" r:id="rId4"/>
    <p:sldId id="405" r:id="rId5"/>
    <p:sldId id="406" r:id="rId6"/>
    <p:sldId id="407" r:id="rId7"/>
    <p:sldId id="410" r:id="rId8"/>
    <p:sldId id="403" r:id="rId9"/>
    <p:sldId id="408" r:id="rId10"/>
    <p:sldId id="409" r:id="rId11"/>
    <p:sldId id="411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F700"/>
    <a:srgbClr val="FF1C9E"/>
    <a:srgbClr val="49FFF4"/>
    <a:srgbClr val="1C05FF"/>
    <a:srgbClr val="FF7500"/>
    <a:srgbClr val="FF20FE"/>
    <a:srgbClr val="CBBB4A"/>
    <a:srgbClr val="00C1FA"/>
    <a:srgbClr val="141698"/>
    <a:srgbClr val="C40D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22" autoAdjust="0"/>
    <p:restoredTop sz="96327"/>
  </p:normalViewPr>
  <p:slideViewPr>
    <p:cSldViewPr snapToGrid="0" snapToObjects="1">
      <p:cViewPr varScale="1">
        <p:scale>
          <a:sx n="122" d="100"/>
          <a:sy n="122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21.08.25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2" name="Textfeld 4">
            <a:extLst>
              <a:ext uri="{FF2B5EF4-FFF2-40B4-BE49-F238E27FC236}">
                <a16:creationId xmlns:a16="http://schemas.microsoft.com/office/drawing/2014/main" id="{171B6EB2-D514-3F4A-5337-08A34973BAC2}"/>
              </a:ext>
            </a:extLst>
          </p:cNvPr>
          <p:cNvSpPr txBox="1"/>
          <p:nvPr userDrawn="1"/>
        </p:nvSpPr>
        <p:spPr>
          <a:xfrm>
            <a:off x="1635020" y="6325616"/>
            <a:ext cx="4896410" cy="27167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4">
            <a:extLst>
              <a:ext uri="{FF2B5EF4-FFF2-40B4-BE49-F238E27FC236}">
                <a16:creationId xmlns:a16="http://schemas.microsoft.com/office/drawing/2014/main" id="{B518B01A-49FE-A4B4-7FC4-06F0955BEAAC}"/>
              </a:ext>
            </a:extLst>
          </p:cNvPr>
          <p:cNvSpPr txBox="1"/>
          <p:nvPr userDrawn="1"/>
        </p:nvSpPr>
        <p:spPr>
          <a:xfrm>
            <a:off x="306977" y="6335983"/>
            <a:ext cx="596537" cy="27167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  <p:pic>
        <p:nvPicPr>
          <p:cNvPr id="14" name="Bildplatzhalter 8">
            <a:extLst>
              <a:ext uri="{FF2B5EF4-FFF2-40B4-BE49-F238E27FC236}">
                <a16:creationId xmlns:a16="http://schemas.microsoft.com/office/drawing/2014/main" id="{F0C93F5E-23FA-FA4B-8A4E-25501DAC13C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l="344" r="344"/>
          <a:stretch/>
        </p:blipFill>
        <p:spPr>
          <a:xfrm>
            <a:off x="9434349" y="5986710"/>
            <a:ext cx="2250000" cy="576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Mustermann | Fachgebiet | Anlass der Präsentation | </a:t>
            </a:r>
            <a:fld id="{8AB8AE3C-4F02-BE49-87A2-4A6516160ED6}" type="datetime4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21. August 2025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E903D24C-FCCD-8C8A-2915-E34F9A980D9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428947" y="5986710"/>
            <a:ext cx="2255402" cy="743699"/>
          </a:xfrm>
          <a:prstGeom prst="rect">
            <a:avLst/>
          </a:prstGeom>
        </p:spPr>
      </p:pic>
      <p:sp>
        <p:nvSpPr>
          <p:cNvPr id="4" name="Textfeld 4">
            <a:extLst>
              <a:ext uri="{FF2B5EF4-FFF2-40B4-BE49-F238E27FC236}">
                <a16:creationId xmlns:a16="http://schemas.microsoft.com/office/drawing/2014/main" id="{CB0A4362-E728-804E-865F-DE7CEEF3222C}"/>
              </a:ext>
            </a:extLst>
          </p:cNvPr>
          <p:cNvSpPr txBox="1"/>
          <p:nvPr userDrawn="1"/>
        </p:nvSpPr>
        <p:spPr>
          <a:xfrm>
            <a:off x="1635020" y="6325616"/>
            <a:ext cx="4896410" cy="27167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6F1ECC5-DF58-171B-39B6-797C01F6D086}"/>
              </a:ext>
            </a:extLst>
          </p:cNvPr>
          <p:cNvSpPr txBox="1"/>
          <p:nvPr userDrawn="1"/>
        </p:nvSpPr>
        <p:spPr>
          <a:xfrm>
            <a:off x="306977" y="6335983"/>
            <a:ext cx="596537" cy="27167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91E010B-877E-604A-96C7-32EFC5B57054}"/>
              </a:ext>
            </a:extLst>
          </p:cNvPr>
          <p:cNvSpPr txBox="1"/>
          <p:nvPr/>
        </p:nvSpPr>
        <p:spPr>
          <a:xfrm>
            <a:off x="550802" y="4102924"/>
            <a:ext cx="787849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Conserved Patterns in IgE BCRs (Mus Musculus and Homo Sapiens)</a:t>
            </a:r>
          </a:p>
        </p:txBody>
      </p:sp>
      <p:pic>
        <p:nvPicPr>
          <p:cNvPr id="6" name="Bildplatzhalter 8">
            <a:extLst>
              <a:ext uri="{FF2B5EF4-FFF2-40B4-BE49-F238E27FC236}">
                <a16:creationId xmlns:a16="http://schemas.microsoft.com/office/drawing/2014/main" id="{141C853B-93AB-0D46-AC3B-23F54D208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" r="344"/>
          <a:stretch/>
        </p:blipFill>
        <p:spPr>
          <a:xfrm>
            <a:off x="9388168" y="5732725"/>
            <a:ext cx="2250000" cy="576000"/>
          </a:xfrm>
          <a:prstGeom prst="rect">
            <a:avLst/>
          </a:prstGeom>
        </p:spPr>
      </p:pic>
      <p:sp>
        <p:nvSpPr>
          <p:cNvPr id="2" name="Textfeld 3">
            <a:extLst>
              <a:ext uri="{FF2B5EF4-FFF2-40B4-BE49-F238E27FC236}">
                <a16:creationId xmlns:a16="http://schemas.microsoft.com/office/drawing/2014/main" id="{34C6FADB-D67F-98A4-D6FB-17C823F2CF19}"/>
              </a:ext>
            </a:extLst>
          </p:cNvPr>
          <p:cNvSpPr txBox="1"/>
          <p:nvPr/>
        </p:nvSpPr>
        <p:spPr>
          <a:xfrm>
            <a:off x="550801" y="5563124"/>
            <a:ext cx="89190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</a:t>
            </a:r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6443E86D-788B-3360-022A-C388D2978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978" y="5732724"/>
            <a:ext cx="2417190" cy="745601"/>
          </a:xfrm>
          <a:prstGeom prst="rect">
            <a:avLst/>
          </a:prstGeom>
        </p:spPr>
      </p:pic>
      <p:pic>
        <p:nvPicPr>
          <p:cNvPr id="10" name="Picture 9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9F0EA0FD-1043-5447-7770-356A7BFC8F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45" t="40224" r="5518" b="38879"/>
          <a:stretch/>
        </p:blipFill>
        <p:spPr>
          <a:xfrm>
            <a:off x="321515" y="263078"/>
            <a:ext cx="4477408" cy="106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76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E556-3299-CBED-0AFB-30845779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3EAE8-06EB-D473-277C-C368F34F9D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809" y="417074"/>
            <a:ext cx="8311908" cy="717437"/>
          </a:xfrm>
        </p:spPr>
        <p:txBody>
          <a:bodyPr/>
          <a:lstStyle/>
          <a:p>
            <a:r>
              <a:rPr lang="en-US" dirty="0"/>
              <a:t>Current Dataset - Mice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B1031C07-3EF4-B871-7599-53CFD7AA6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sp>
        <p:nvSpPr>
          <p:cNvPr id="7" name="Textplatzhalter 1">
            <a:extLst>
              <a:ext uri="{FF2B5EF4-FFF2-40B4-BE49-F238E27FC236}">
                <a16:creationId xmlns:a16="http://schemas.microsoft.com/office/drawing/2014/main" id="{D37A7CDC-F219-929A-1F59-55DA41A6FAFB}"/>
              </a:ext>
            </a:extLst>
          </p:cNvPr>
          <p:cNvSpPr txBox="1">
            <a:spLocks/>
          </p:cNvSpPr>
          <p:nvPr/>
        </p:nvSpPr>
        <p:spPr>
          <a:xfrm>
            <a:off x="5349978" y="2750290"/>
            <a:ext cx="3441998" cy="20127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1008 BCR IgE sequences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10 different studies, 2 of them on allergies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Raw data, clean sequences and visualizations stored on GitHub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837EDA-94A4-FF53-2BC3-2BCF3B60CD7B}"/>
              </a:ext>
            </a:extLst>
          </p:cNvPr>
          <p:cNvSpPr/>
          <p:nvPr/>
        </p:nvSpPr>
        <p:spPr>
          <a:xfrm>
            <a:off x="3313378" y="4083664"/>
            <a:ext cx="1547385" cy="371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BA94B04-16CB-EBD2-04DC-C9B079BDC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976" y="1079841"/>
            <a:ext cx="2065040" cy="1161585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E97469-25F5-2A7B-6F90-367FA8F81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808" y="2385192"/>
            <a:ext cx="2367376" cy="3149327"/>
          </a:xfrm>
          <a:prstGeom prst="rect">
            <a:avLst/>
          </a:prstGeom>
        </p:spPr>
      </p:pic>
      <p:sp>
        <p:nvSpPr>
          <p:cNvPr id="11" name="Textfeld 4">
            <a:extLst>
              <a:ext uri="{FF2B5EF4-FFF2-40B4-BE49-F238E27FC236}">
                <a16:creationId xmlns:a16="http://schemas.microsoft.com/office/drawing/2014/main" id="{0B8795E9-77F9-0C17-EFC4-31E91C4AE386}"/>
              </a:ext>
            </a:extLst>
          </p:cNvPr>
          <p:cNvSpPr txBox="1"/>
          <p:nvPr/>
        </p:nvSpPr>
        <p:spPr>
          <a:xfrm>
            <a:off x="1645529" y="6320294"/>
            <a:ext cx="5079361" cy="26590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 | Lab Meeting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182E71-4F8C-B817-7252-BFBA8AB04A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826" t="6920" r="2826" b="8895"/>
          <a:stretch>
            <a:fillRect/>
          </a:stretch>
        </p:blipFill>
        <p:spPr>
          <a:xfrm>
            <a:off x="434114" y="1287382"/>
            <a:ext cx="4800251" cy="42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8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7CA33-D65E-56A5-00C0-E92FD958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4000E-9D29-9297-3713-100A951DF0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809" y="417074"/>
            <a:ext cx="8311908" cy="717437"/>
          </a:xfrm>
        </p:spPr>
        <p:txBody>
          <a:bodyPr/>
          <a:lstStyle/>
          <a:p>
            <a:r>
              <a:rPr lang="en-US" dirty="0"/>
              <a:t>VDJ gene usage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174354C7-169F-41C9-C80C-029E4149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sp>
        <p:nvSpPr>
          <p:cNvPr id="8" name="Textfeld 4">
            <a:extLst>
              <a:ext uri="{FF2B5EF4-FFF2-40B4-BE49-F238E27FC236}">
                <a16:creationId xmlns:a16="http://schemas.microsoft.com/office/drawing/2014/main" id="{9420D74A-93AB-7FC6-298A-F8694A873003}"/>
              </a:ext>
            </a:extLst>
          </p:cNvPr>
          <p:cNvSpPr txBox="1"/>
          <p:nvPr/>
        </p:nvSpPr>
        <p:spPr>
          <a:xfrm>
            <a:off x="1645529" y="6320294"/>
            <a:ext cx="5079361" cy="26590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 | Lab Meeting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CB8400B5-A0DB-6634-3D2C-0D2817BA4C01}"/>
              </a:ext>
            </a:extLst>
          </p:cNvPr>
          <p:cNvSpPr txBox="1">
            <a:spLocks/>
          </p:cNvSpPr>
          <p:nvPr/>
        </p:nvSpPr>
        <p:spPr>
          <a:xfrm>
            <a:off x="4294685" y="2442184"/>
            <a:ext cx="3362851" cy="25704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Naïve mice most represented genes are V1-72 (4%), V1-18 (4%)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Allergic mice show slight preference for V2-9 (14%), V1-80 (12%)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The top genes don’t overlap between both lists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413FDA-F787-8669-9DE6-D822DCCA7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7536" y="1531225"/>
            <a:ext cx="3995245" cy="3995245"/>
          </a:xfrm>
          <a:prstGeom prst="rect">
            <a:avLst/>
          </a:prstGeom>
        </p:spPr>
      </p:pic>
      <p:sp>
        <p:nvSpPr>
          <p:cNvPr id="11" name="Textplatzhalter 1">
            <a:extLst>
              <a:ext uri="{FF2B5EF4-FFF2-40B4-BE49-F238E27FC236}">
                <a16:creationId xmlns:a16="http://schemas.microsoft.com/office/drawing/2014/main" id="{EB5E0A77-CEAA-1D7C-351F-1F9C947C9CDF}"/>
              </a:ext>
            </a:extLst>
          </p:cNvPr>
          <p:cNvSpPr txBox="1">
            <a:spLocks/>
          </p:cNvSpPr>
          <p:nvPr/>
        </p:nvSpPr>
        <p:spPr>
          <a:xfrm>
            <a:off x="8226214" y="1926516"/>
            <a:ext cx="918446" cy="3087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Allergies 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568360D-62A5-2C46-771A-91CC1D7674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368" t="5817" r="1631" b="7563"/>
          <a:stretch>
            <a:fillRect/>
          </a:stretch>
        </p:blipFill>
        <p:spPr>
          <a:xfrm>
            <a:off x="189964" y="1626548"/>
            <a:ext cx="3995245" cy="3604904"/>
          </a:xfrm>
          <a:prstGeom prst="rect">
            <a:avLst/>
          </a:prstGeom>
        </p:spPr>
      </p:pic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D0AE8DAE-F094-98B0-427D-AF58C1B2283C}"/>
              </a:ext>
            </a:extLst>
          </p:cNvPr>
          <p:cNvSpPr txBox="1">
            <a:spLocks/>
          </p:cNvSpPr>
          <p:nvPr/>
        </p:nvSpPr>
        <p:spPr>
          <a:xfrm>
            <a:off x="727083" y="2080902"/>
            <a:ext cx="918446" cy="3087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Naïve </a:t>
            </a:r>
          </a:p>
        </p:txBody>
      </p:sp>
    </p:spTree>
    <p:extLst>
      <p:ext uri="{BB962C8B-B14F-4D97-AF65-F5344CB8AC3E}">
        <p14:creationId xmlns:p14="http://schemas.microsoft.com/office/powerpoint/2010/main" val="1602583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457BA-0147-2E35-A1C8-28B5C1D2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73344-03CE-E23C-B404-4D63D6BE8A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809" y="417074"/>
            <a:ext cx="8311908" cy="717437"/>
          </a:xfrm>
        </p:spPr>
        <p:txBody>
          <a:bodyPr/>
          <a:lstStyle/>
          <a:p>
            <a:r>
              <a:rPr lang="en-US" dirty="0"/>
              <a:t>VDJ gene usage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11F0FCC4-F3FD-BDB7-42DD-CD416770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sp>
        <p:nvSpPr>
          <p:cNvPr id="8" name="Textfeld 4">
            <a:extLst>
              <a:ext uri="{FF2B5EF4-FFF2-40B4-BE49-F238E27FC236}">
                <a16:creationId xmlns:a16="http://schemas.microsoft.com/office/drawing/2014/main" id="{860E0087-C2B9-DA19-394F-D2EC0011E574}"/>
              </a:ext>
            </a:extLst>
          </p:cNvPr>
          <p:cNvSpPr txBox="1"/>
          <p:nvPr/>
        </p:nvSpPr>
        <p:spPr>
          <a:xfrm>
            <a:off x="1645529" y="6320294"/>
            <a:ext cx="5079361" cy="26590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 | Lab Meeting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7BC26BB2-DCAF-97AA-13CF-6DF8574DD0B7}"/>
              </a:ext>
            </a:extLst>
          </p:cNvPr>
          <p:cNvSpPr txBox="1">
            <a:spLocks/>
          </p:cNvSpPr>
          <p:nvPr/>
        </p:nvSpPr>
        <p:spPr>
          <a:xfrm>
            <a:off x="4202509" y="2915905"/>
            <a:ext cx="3937852" cy="15720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Naïve mice show preference for J4 (35%) but J2 (30%) is also close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Allergic mice show preference for J3 (50%)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4F94AF4-8F1C-707A-7FE7-1CCA41B6D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1435" y="1705921"/>
            <a:ext cx="3893327" cy="3893327"/>
          </a:xfrm>
          <a:prstGeom prst="rect">
            <a:avLst/>
          </a:prstGeom>
        </p:spPr>
      </p:pic>
      <p:sp>
        <p:nvSpPr>
          <p:cNvPr id="11" name="Textplatzhalter 1">
            <a:extLst>
              <a:ext uri="{FF2B5EF4-FFF2-40B4-BE49-F238E27FC236}">
                <a16:creationId xmlns:a16="http://schemas.microsoft.com/office/drawing/2014/main" id="{EC7D97A9-7CAC-911B-248D-4DCCE7EAD45E}"/>
              </a:ext>
            </a:extLst>
          </p:cNvPr>
          <p:cNvSpPr txBox="1">
            <a:spLocks/>
          </p:cNvSpPr>
          <p:nvPr/>
        </p:nvSpPr>
        <p:spPr>
          <a:xfrm>
            <a:off x="8419429" y="1926516"/>
            <a:ext cx="918446" cy="3087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Allergies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DE26D7-E5C5-B043-344D-AA51B74A05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468" t="7425" r="2315" b="7931"/>
          <a:stretch>
            <a:fillRect/>
          </a:stretch>
        </p:blipFill>
        <p:spPr>
          <a:xfrm>
            <a:off x="180768" y="1947521"/>
            <a:ext cx="4004441" cy="3559763"/>
          </a:xfrm>
          <a:prstGeom prst="rect">
            <a:avLst/>
          </a:prstGeom>
        </p:spPr>
      </p:pic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897EA9D8-487D-CA28-0AEF-DD73DE323D88}"/>
              </a:ext>
            </a:extLst>
          </p:cNvPr>
          <p:cNvSpPr txBox="1">
            <a:spLocks/>
          </p:cNvSpPr>
          <p:nvPr/>
        </p:nvSpPr>
        <p:spPr>
          <a:xfrm>
            <a:off x="727083" y="2080902"/>
            <a:ext cx="918446" cy="3087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Naïve </a:t>
            </a:r>
          </a:p>
        </p:txBody>
      </p:sp>
    </p:spTree>
    <p:extLst>
      <p:ext uri="{BB962C8B-B14F-4D97-AF65-F5344CB8AC3E}">
        <p14:creationId xmlns:p14="http://schemas.microsoft.com/office/powerpoint/2010/main" val="65205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76C3A-A1A1-D831-D7C4-CE8D22E7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83AB7A1-604A-B8A3-8B3B-A6D339075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28" t="6678" r="2737" b="7190"/>
          <a:stretch>
            <a:fillRect/>
          </a:stretch>
        </p:blipFill>
        <p:spPr>
          <a:xfrm>
            <a:off x="129739" y="1926515"/>
            <a:ext cx="3761391" cy="34018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33F0F-3F5C-3924-DDE0-989C03098C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809" y="417074"/>
            <a:ext cx="8311908" cy="717437"/>
          </a:xfrm>
        </p:spPr>
        <p:txBody>
          <a:bodyPr/>
          <a:lstStyle/>
          <a:p>
            <a:r>
              <a:rPr lang="en-US" dirty="0"/>
              <a:t>VDJ gene usage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A86F71C6-21CF-E7CC-E729-D4475ED00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sp>
        <p:nvSpPr>
          <p:cNvPr id="8" name="Textfeld 4">
            <a:extLst>
              <a:ext uri="{FF2B5EF4-FFF2-40B4-BE49-F238E27FC236}">
                <a16:creationId xmlns:a16="http://schemas.microsoft.com/office/drawing/2014/main" id="{D3920DFA-1566-5857-A279-81609E1D12D5}"/>
              </a:ext>
            </a:extLst>
          </p:cNvPr>
          <p:cNvSpPr txBox="1"/>
          <p:nvPr/>
        </p:nvSpPr>
        <p:spPr>
          <a:xfrm>
            <a:off x="1645529" y="6320294"/>
            <a:ext cx="5079361" cy="26590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 | Lab Meeting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9B33E23F-1AA6-67CE-602A-61B2B4BE6000}"/>
              </a:ext>
            </a:extLst>
          </p:cNvPr>
          <p:cNvSpPr txBox="1">
            <a:spLocks/>
          </p:cNvSpPr>
          <p:nvPr/>
        </p:nvSpPr>
        <p:spPr>
          <a:xfrm>
            <a:off x="4083951" y="2756338"/>
            <a:ext cx="4024099" cy="1126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Naïve mice show preference for IGHD1-1 (31%)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Not enough data to determine allergic mice preferences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BBBC068-7259-F6D2-84BB-40BFA8D0AA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8050" y="1548305"/>
            <a:ext cx="3761390" cy="3761390"/>
          </a:xfrm>
          <a:prstGeom prst="rect">
            <a:avLst/>
          </a:prstGeom>
        </p:spPr>
      </p:pic>
      <p:sp>
        <p:nvSpPr>
          <p:cNvPr id="13" name="Textplatzhalter 1">
            <a:extLst>
              <a:ext uri="{FF2B5EF4-FFF2-40B4-BE49-F238E27FC236}">
                <a16:creationId xmlns:a16="http://schemas.microsoft.com/office/drawing/2014/main" id="{B7574A44-50C0-E6B2-E888-7057166A3753}"/>
              </a:ext>
            </a:extLst>
          </p:cNvPr>
          <p:cNvSpPr txBox="1">
            <a:spLocks/>
          </p:cNvSpPr>
          <p:nvPr/>
        </p:nvSpPr>
        <p:spPr>
          <a:xfrm>
            <a:off x="8226214" y="1926516"/>
            <a:ext cx="918446" cy="3087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Allergies </a:t>
            </a:r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EAC665C0-9691-A5BE-B15B-AFB4B4DF2C4A}"/>
              </a:ext>
            </a:extLst>
          </p:cNvPr>
          <p:cNvSpPr txBox="1">
            <a:spLocks/>
          </p:cNvSpPr>
          <p:nvPr/>
        </p:nvSpPr>
        <p:spPr>
          <a:xfrm>
            <a:off x="537897" y="1926515"/>
            <a:ext cx="918446" cy="3087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Naïve </a:t>
            </a:r>
          </a:p>
        </p:txBody>
      </p:sp>
    </p:spTree>
    <p:extLst>
      <p:ext uri="{BB962C8B-B14F-4D97-AF65-F5344CB8AC3E}">
        <p14:creationId xmlns:p14="http://schemas.microsoft.com/office/powerpoint/2010/main" val="93997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BAE22-54A7-4C3E-AFB8-5DE22A1C65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CDR3 motif discovery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57CEBE-BDB7-E08D-A4BE-E53254A784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407"/>
          <a:stretch>
            <a:fillRect/>
          </a:stretch>
        </p:blipFill>
        <p:spPr>
          <a:xfrm>
            <a:off x="7213793" y="1190831"/>
            <a:ext cx="3932050" cy="454111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11D768-5FC1-01AD-1CDD-507E13511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49" y="1178757"/>
            <a:ext cx="4047551" cy="4565261"/>
          </a:xfrm>
          <a:prstGeom prst="rect">
            <a:avLst/>
          </a:prstGeo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BD1D044-831A-50BA-F64A-7F653CBACB1F}"/>
              </a:ext>
            </a:extLst>
          </p:cNvPr>
          <p:cNvSpPr txBox="1">
            <a:spLocks/>
          </p:cNvSpPr>
          <p:nvPr/>
        </p:nvSpPr>
        <p:spPr>
          <a:xfrm>
            <a:off x="4978208" y="4795344"/>
            <a:ext cx="2064429" cy="1126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To be continued…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3605906F-93C2-DB58-2B45-9B58AEEE511E}"/>
              </a:ext>
            </a:extLst>
          </p:cNvPr>
          <p:cNvSpPr txBox="1">
            <a:spLocks/>
          </p:cNvSpPr>
          <p:nvPr/>
        </p:nvSpPr>
        <p:spPr>
          <a:xfrm>
            <a:off x="4858482" y="2472559"/>
            <a:ext cx="2064429" cy="1126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← Naïve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	    Allergy→</a:t>
            </a:r>
          </a:p>
        </p:txBody>
      </p:sp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E698C1C9-408E-7EA8-C1F6-AABF3E179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AF35597F-752F-C9AE-5019-27DA3E3FD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69" y="718952"/>
            <a:ext cx="2742324" cy="104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8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E97E-7D9C-A6F4-69BA-1EC90717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37D69-8031-E3D4-9C58-9A65D64EBE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809" y="417074"/>
            <a:ext cx="8311908" cy="717437"/>
          </a:xfrm>
        </p:spPr>
        <p:txBody>
          <a:bodyPr/>
          <a:lstStyle/>
          <a:p>
            <a:r>
              <a:rPr lang="en-US" dirty="0"/>
              <a:t>New approach – Human data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2690612C-DFD9-CA71-9EF1-2A720562A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sp>
        <p:nvSpPr>
          <p:cNvPr id="13" name="Textplatzhalter 1">
            <a:extLst>
              <a:ext uri="{FF2B5EF4-FFF2-40B4-BE49-F238E27FC236}">
                <a16:creationId xmlns:a16="http://schemas.microsoft.com/office/drawing/2014/main" id="{B77CCD68-4B85-806A-AE68-5E51C18A27DB}"/>
              </a:ext>
            </a:extLst>
          </p:cNvPr>
          <p:cNvSpPr txBox="1">
            <a:spLocks/>
          </p:cNvSpPr>
          <p:nvPr/>
        </p:nvSpPr>
        <p:spPr>
          <a:xfrm>
            <a:off x="704809" y="1572519"/>
            <a:ext cx="8311908" cy="2014398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Focus on VDJ gene usage, ignore CDR motifs and patterns for now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1600" dirty="0"/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Consider both heavy and light </a:t>
            </a:r>
            <a:r>
              <a:rPr lang="en-US" sz="1600" b="1" dirty="0"/>
              <a:t>chain pairs</a:t>
            </a:r>
            <a:r>
              <a:rPr lang="en-US" sz="1600" dirty="0"/>
              <a:t>, not just IGHE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1600" dirty="0"/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First establish the baseline VDJ usage in naïve mice, then compare it to allergic mice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8E98E76-80A6-0A26-E629-E981C307C1A8}"/>
              </a:ext>
            </a:extLst>
          </p:cNvPr>
          <p:cNvSpPr txBox="1"/>
          <p:nvPr/>
        </p:nvSpPr>
        <p:spPr>
          <a:xfrm>
            <a:off x="1645529" y="6320294"/>
            <a:ext cx="5079361" cy="26590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 | Lab Meeting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BB28F2-07F4-63F9-9EA7-3B225AEC12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2" r="22573" b="7220"/>
          <a:stretch>
            <a:fillRect/>
          </a:stretch>
        </p:blipFill>
        <p:spPr>
          <a:xfrm>
            <a:off x="9148498" y="1983827"/>
            <a:ext cx="2606567" cy="2554014"/>
          </a:xfrm>
          <a:prstGeom prst="rect">
            <a:avLst/>
          </a:prstGeom>
        </p:spPr>
      </p:pic>
      <p:pic>
        <p:nvPicPr>
          <p:cNvPr id="2" name="Picture 1" descr="A diagram of a cell membrane&#10;&#10;AI-generated content may be incorrect.">
            <a:extLst>
              <a:ext uri="{FF2B5EF4-FFF2-40B4-BE49-F238E27FC236}">
                <a16:creationId xmlns:a16="http://schemas.microsoft.com/office/drawing/2014/main" id="{CDDBA26C-6D8C-B662-501C-B150FBEA80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172" b="40725"/>
          <a:stretch>
            <a:fillRect/>
          </a:stretch>
        </p:blipFill>
        <p:spPr>
          <a:xfrm>
            <a:off x="4659897" y="3871088"/>
            <a:ext cx="1814476" cy="1845473"/>
          </a:xfrm>
          <a:prstGeom prst="rect">
            <a:avLst/>
          </a:prstGeom>
        </p:spPr>
      </p:pic>
      <p:pic>
        <p:nvPicPr>
          <p:cNvPr id="7" name="Picture 6" descr="A close-up of several colored lines&#10;&#10;AI-generated content may be incorrect.">
            <a:extLst>
              <a:ext uri="{FF2B5EF4-FFF2-40B4-BE49-F238E27FC236}">
                <a16:creationId xmlns:a16="http://schemas.microsoft.com/office/drawing/2014/main" id="{D7B2B277-39AD-01C7-2518-D35B9FDB3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03" y="3678497"/>
            <a:ext cx="3076718" cy="220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C4D8-7C9B-C04D-8CA1-26E43841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21CC8-8DAD-09D5-9182-CEDDB7E22C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809" y="417074"/>
            <a:ext cx="8311908" cy="717437"/>
          </a:xfrm>
        </p:spPr>
        <p:txBody>
          <a:bodyPr/>
          <a:lstStyle/>
          <a:p>
            <a:r>
              <a:rPr lang="en-US" dirty="0"/>
              <a:t>Human data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29CB3339-8B2C-1E0C-C863-61DCEE37F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sp>
        <p:nvSpPr>
          <p:cNvPr id="13" name="Textplatzhalter 1">
            <a:extLst>
              <a:ext uri="{FF2B5EF4-FFF2-40B4-BE49-F238E27FC236}">
                <a16:creationId xmlns:a16="http://schemas.microsoft.com/office/drawing/2014/main" id="{9FC06534-96B6-2610-0EA8-4C07ABBC3F4D}"/>
              </a:ext>
            </a:extLst>
          </p:cNvPr>
          <p:cNvSpPr txBox="1">
            <a:spLocks/>
          </p:cNvSpPr>
          <p:nvPr/>
        </p:nvSpPr>
        <p:spPr>
          <a:xfrm>
            <a:off x="704809" y="1974277"/>
            <a:ext cx="4768217" cy="2744867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2 studies on peanut-allergic patients: 56 </a:t>
            </a:r>
            <a:r>
              <a:rPr lang="en-US" sz="1600" dirty="0" err="1"/>
              <a:t>IgE</a:t>
            </a:r>
            <a:r>
              <a:rPr lang="en-US" sz="1600" dirty="0"/>
              <a:t> sequences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1600" dirty="0"/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Other immunology papers: 6 </a:t>
            </a:r>
            <a:r>
              <a:rPr lang="en-US" sz="1600" dirty="0" err="1"/>
              <a:t>IgE</a:t>
            </a:r>
            <a:r>
              <a:rPr lang="en-US" sz="1600" dirty="0"/>
              <a:t> sequences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1600" dirty="0"/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Currently looking for larger datasets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0EF3997-2E58-4055-0E2E-0B6FB526C1E8}"/>
              </a:ext>
            </a:extLst>
          </p:cNvPr>
          <p:cNvSpPr txBox="1"/>
          <p:nvPr/>
        </p:nvSpPr>
        <p:spPr>
          <a:xfrm>
            <a:off x="1645529" y="6320294"/>
            <a:ext cx="5079361" cy="26590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 | Lab Meeting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3F2EC1D-AE21-AFB8-3C81-6CAFDEB7A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552" t="8206" r="2184" b="6828"/>
          <a:stretch>
            <a:fillRect/>
          </a:stretch>
        </p:blipFill>
        <p:spPr>
          <a:xfrm>
            <a:off x="5473026" y="974056"/>
            <a:ext cx="5310588" cy="473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2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936D7-5433-C676-A18D-5F2AE7DD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E038C-BC35-64BE-BD79-378F99D3A2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809" y="417074"/>
            <a:ext cx="8311908" cy="717437"/>
          </a:xfrm>
        </p:spPr>
        <p:txBody>
          <a:bodyPr/>
          <a:lstStyle/>
          <a:p>
            <a:r>
              <a:rPr lang="en-US" dirty="0"/>
              <a:t>VDJ pairs  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A59B1679-1FCA-325B-FCF1-52B96796C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sp>
        <p:nvSpPr>
          <p:cNvPr id="13" name="Textplatzhalter 1">
            <a:extLst>
              <a:ext uri="{FF2B5EF4-FFF2-40B4-BE49-F238E27FC236}">
                <a16:creationId xmlns:a16="http://schemas.microsoft.com/office/drawing/2014/main" id="{CBB59F15-2367-AB78-82E5-D4A6B9D1B4C9}"/>
              </a:ext>
            </a:extLst>
          </p:cNvPr>
          <p:cNvSpPr txBox="1">
            <a:spLocks/>
          </p:cNvSpPr>
          <p:nvPr/>
        </p:nvSpPr>
        <p:spPr>
          <a:xfrm>
            <a:off x="704809" y="1984894"/>
            <a:ext cx="4129950" cy="2610860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VDJ analysis now focused on VH–VL pairs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1600" dirty="0"/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So far, ~50 pairs identified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1600" dirty="0"/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No clear patterns yet, more sequences needed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8C7B9DD-D4B3-80E7-CDE0-631488A62C08}"/>
              </a:ext>
            </a:extLst>
          </p:cNvPr>
          <p:cNvSpPr txBox="1"/>
          <p:nvPr/>
        </p:nvSpPr>
        <p:spPr>
          <a:xfrm>
            <a:off x="1645529" y="6320294"/>
            <a:ext cx="5079361" cy="26590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 | Lab Meeting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27E564-1F76-01A6-9C62-E8B13DE81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74950"/>
              </p:ext>
            </p:extLst>
          </p:nvPr>
        </p:nvGraphicFramePr>
        <p:xfrm>
          <a:off x="5949136" y="641131"/>
          <a:ext cx="2741887" cy="5010282"/>
        </p:xfrm>
        <a:graphic>
          <a:graphicData uri="http://schemas.openxmlformats.org/drawingml/2006/table">
            <a:tbl>
              <a:tblPr/>
              <a:tblGrid>
                <a:gridCol w="1017204">
                  <a:extLst>
                    <a:ext uri="{9D8B030D-6E8A-4147-A177-3AD203B41FA5}">
                      <a16:colId xmlns:a16="http://schemas.microsoft.com/office/drawing/2014/main" val="489282212"/>
                    </a:ext>
                  </a:extLst>
                </a:gridCol>
                <a:gridCol w="929177">
                  <a:extLst>
                    <a:ext uri="{9D8B030D-6E8A-4147-A177-3AD203B41FA5}">
                      <a16:colId xmlns:a16="http://schemas.microsoft.com/office/drawing/2014/main" val="2499385389"/>
                    </a:ext>
                  </a:extLst>
                </a:gridCol>
                <a:gridCol w="795506">
                  <a:extLst>
                    <a:ext uri="{9D8B030D-6E8A-4147-A177-3AD203B41FA5}">
                      <a16:colId xmlns:a16="http://schemas.microsoft.com/office/drawing/2014/main" val="527781083"/>
                    </a:ext>
                  </a:extLst>
                </a:gridCol>
              </a:tblGrid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Heavy Chain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Light Chain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Count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189483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IGHV1-69D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IGLV3-21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40759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IGHV3-11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IGLV3-21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15661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IGHV3-11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IGLV1-51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233264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IGHV1-46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IGKV1-5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278915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IGHV4-39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IGLV1-40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654856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IGHV3-64D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IGKV1D-39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7299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IGHV3-33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IGKV1-33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3395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IGHV1-18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IGLV1-51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81747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IGHV3-21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IGKV1-5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801370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IGHV3-21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IGKV3-20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974527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IGHV3-74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IGKV1-33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50829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IGHV3-33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IGKV1-5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896044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IGHV7-81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IGLV3-21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485648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IGHV7-81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IGKV4-1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61970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IGHV4-30-4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IGLV1-47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65826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811864"/>
                  </a:ext>
                </a:extLst>
              </a:tr>
              <a:tr h="2783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978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769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E059-E542-F6BF-5387-0A80F03B3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30182-AFCE-A801-1E66-7ABACFACAB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809" y="417074"/>
            <a:ext cx="8311908" cy="717437"/>
          </a:xfrm>
        </p:spPr>
        <p:txBody>
          <a:bodyPr/>
          <a:lstStyle/>
          <a:p>
            <a:r>
              <a:rPr lang="en-US" dirty="0"/>
              <a:t>Summary – an update </a:t>
            </a:r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8AE06C43-15E5-9F2C-627F-F38FF6B52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875" y="5985602"/>
            <a:ext cx="2417190" cy="745601"/>
          </a:xfrm>
          <a:prstGeom prst="rect">
            <a:avLst/>
          </a:prstGeom>
        </p:spPr>
      </p:pic>
      <p:sp>
        <p:nvSpPr>
          <p:cNvPr id="13" name="Textplatzhalter 1">
            <a:extLst>
              <a:ext uri="{FF2B5EF4-FFF2-40B4-BE49-F238E27FC236}">
                <a16:creationId xmlns:a16="http://schemas.microsoft.com/office/drawing/2014/main" id="{DE904CFB-9861-CF99-B475-80158D3E6918}"/>
              </a:ext>
            </a:extLst>
          </p:cNvPr>
          <p:cNvSpPr txBox="1">
            <a:spLocks/>
          </p:cNvSpPr>
          <p:nvPr/>
        </p:nvSpPr>
        <p:spPr>
          <a:xfrm>
            <a:off x="704809" y="1414602"/>
            <a:ext cx="11182391" cy="430302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rgbClr val="4343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Progress made: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Reached ~1000 mouse sequences; slight VDJ preferences emerging as candidate patterns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Shifted focus to human data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Expanded pipeline to include light chains and generate VH–VL pairs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What's next: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Identify larger human BCR-</a:t>
            </a:r>
            <a:r>
              <a:rPr lang="en-US" sz="1600" dirty="0" err="1"/>
              <a:t>IgE</a:t>
            </a:r>
            <a:r>
              <a:rPr lang="en-US" sz="1600" dirty="0"/>
              <a:t> datasets, especially from non-allergic individuals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600" dirty="0"/>
              <a:t>List VH–VL pairs and analyze for preferential usage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824696D-FD98-99D3-40F2-069E30B62712}"/>
              </a:ext>
            </a:extLst>
          </p:cNvPr>
          <p:cNvSpPr txBox="1"/>
          <p:nvPr/>
        </p:nvSpPr>
        <p:spPr>
          <a:xfrm>
            <a:off x="1645529" y="6320294"/>
            <a:ext cx="5079361" cy="265907"/>
          </a:xfrm>
          <a:prstGeom prst="rect">
            <a:avLst/>
          </a:prstGeom>
          <a:solidFill>
            <a:srgbClr val="C40D1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Celano | Lab Meeting</a:t>
            </a:r>
          </a:p>
        </p:txBody>
      </p:sp>
    </p:spTree>
    <p:extLst>
      <p:ext uri="{BB962C8B-B14F-4D97-AF65-F5344CB8AC3E}">
        <p14:creationId xmlns:p14="http://schemas.microsoft.com/office/powerpoint/2010/main" val="3270201218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6859</TotalTime>
  <Words>398</Words>
  <Application>Microsoft Macintosh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 Narrow</vt:lpstr>
      <vt:lpstr>Arial</vt:lpstr>
      <vt:lpstr>Calibri</vt:lpstr>
      <vt:lpstr>Symbol</vt:lpstr>
      <vt:lpstr>Wingdings</vt:lpstr>
      <vt:lpstr>Titelfolien zur Auswahl</vt:lpstr>
      <vt:lpstr>Master für Folgeseiten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TU-Pseudonym 9065206979040199</dc:creator>
  <cp:lastModifiedBy>TU-Pseudonym 17180260781242334016505326660</cp:lastModifiedBy>
  <cp:revision>114</cp:revision>
  <cp:lastPrinted>2021-03-24T16:10:50Z</cp:lastPrinted>
  <dcterms:created xsi:type="dcterms:W3CDTF">2023-04-04T13:37:58Z</dcterms:created>
  <dcterms:modified xsi:type="dcterms:W3CDTF">2025-08-21T06:36:13Z</dcterms:modified>
</cp:coreProperties>
</file>